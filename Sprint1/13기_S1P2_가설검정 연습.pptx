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e64fc6ab3_0_62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be64fc6ab3_0_6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be64fc6ab3_0_6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64fc6ab3_33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be64fc6ab3_33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be64fc6ab3_33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e64fc6ab3_20_1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be64fc6ab3_20_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e64fc6ab3_20_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e64fc6ab3_25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be64fc6ab3_25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be64fc6ab3_25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e64fc6ab3_6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e64fc6ab3_6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be64fc6ab3_6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e64fc6ab3_30_1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be64fc6ab3_30_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be64fc6ab3_30_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e64fc6ab3_8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be64fc6ab3_8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be64fc6ab3_8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e64fc6ab3_32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be64fc6ab3_32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be64fc6ab3_32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e64fc6ab3_30_16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be64fc6ab3_30_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be64fc6ab3_30_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e64fc6ab3_1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e64fc6ab3_1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e64fc6ab3_36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be64fc6ab3_36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be64fc6ab3_36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e64fc6ab3_4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e64fc6ab3_4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e64fc6ab3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be64fc6ab3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7cbe76c47_10_0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c7cbe76c47_1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가설 검정이 난해할 수 있는 이유는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바라보는 관점에 따라 채택일 수도, 기각일 수도 있기 때문이다</a:t>
            </a:r>
            <a:endParaRPr b="1">
              <a:solidFill>
                <a:srgbClr val="0284C7"/>
              </a:solidFill>
            </a:endParaRPr>
          </a:p>
          <a:p>
            <a:pPr indent="-298450" lvl="0" marL="4572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>
                <a:solidFill>
                  <a:srgbClr val="0284C7"/>
                </a:solidFill>
              </a:rPr>
              <a:t>그러므로 가설 수립과 검정에는 신뢰할 수 있는 데이터적 근거가 필수적이다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g3c7cbe76c47_1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가설검정 연습하기</a:t>
            </a:r>
            <a:endParaRPr/>
          </a:p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귀무가설을 기각할 수 있는지 연습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7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(이름)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7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7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7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7"/>
          <p:cNvSpPr txBox="1"/>
          <p:nvPr/>
        </p:nvSpPr>
        <p:spPr>
          <a:xfrm>
            <a:off x="245050" y="2593625"/>
            <a:ext cx="342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채택</a:t>
            </a: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7"/>
          <p:cNvSpPr txBox="1"/>
          <p:nvPr/>
        </p:nvSpPr>
        <p:spPr>
          <a:xfrm>
            <a:off x="2684316" y="3826133"/>
            <a:ext cx="3775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5065025" y="2593625"/>
            <a:ext cx="342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                                   vs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                                   vs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vs     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8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최재희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8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8"/>
          <p:cNvSpPr txBox="1"/>
          <p:nvPr/>
        </p:nvSpPr>
        <p:spPr>
          <a:xfrm>
            <a:off x="304800" y="1132125"/>
            <a:ext cx="846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/>
              <a:t>노래를 들으면서 공부하면 공부 효율이 더 올라갈까?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/>
              <a:t>좋아하는 노래를 들으며 공부할 때 집중력이 높아지고, 외부 소음은 줄어들어 집중이 더 잘 될 것이다.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/>
              <a:t>노래 청취 여부는 공부의 효율에 오히려 방해가 되거나 영향을 주지 않을 것이다.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245050" y="2593625"/>
            <a:ext cx="4536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6510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ko" sz="1100"/>
              <a:t>주변 소음을 차단해 주는 효과가 있다. 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 </a:t>
            </a:r>
            <a:r>
              <a:rPr lang="ko" sz="1100"/>
              <a:t>가사가 있는 노래는 집중력을 떨어뜨린다.</a:t>
            </a:r>
            <a:endParaRPr sz="1300"/>
          </a:p>
          <a:p>
            <a:pPr indent="-16510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ko" sz="1100"/>
              <a:t>지루함을 달래줘 더 오래 공부할 수 있다.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100"/>
              <a:t>리듬에 신경쓰다 흥이 나버린다.</a:t>
            </a:r>
            <a:endParaRPr sz="1100"/>
          </a:p>
          <a:p>
            <a:pPr indent="-16510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기분을 좋게해 집중력이 향상된다. 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100"/>
              <a:t>뇌는 음악과 공부 멀티태스킹이 어렵다.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8"/>
          <p:cNvSpPr txBox="1"/>
          <p:nvPr/>
        </p:nvSpPr>
        <p:spPr>
          <a:xfrm>
            <a:off x="5188484" y="1723086"/>
            <a:ext cx="447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채택</a:t>
            </a:r>
            <a:r>
              <a:rPr lang="ko" sz="1000">
                <a:solidFill>
                  <a:srgbClr val="EF8600"/>
                </a:solidFill>
              </a:rPr>
              <a:t> (나는 공부할 때가 아닌 </a:t>
            </a:r>
            <a:endParaRPr sz="1000">
              <a:solidFill>
                <a:srgbClr val="EF8600"/>
              </a:solidFill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EF8600"/>
                </a:solidFill>
              </a:rPr>
              <a:t>단순 반복 작업 시 노동요로 들어야 겠다.)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55425" y="3733775"/>
            <a:ext cx="85839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 sz="1100">
                <a:solidFill>
                  <a:srgbClr val="0284C7"/>
                </a:solidFill>
              </a:rPr>
              <a:t>문제 풀이 개수가 차이가 있을 수 있지만 우연인지 실력인지 혹은 그 외적인 요인(감기, 배탈)인지 명확히 구분하기 어렵다.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</a:t>
            </a:r>
            <a:r>
              <a:rPr b="1" lang="ko" sz="1100">
                <a:solidFill>
                  <a:srgbClr val="0284C7"/>
                </a:solidFill>
              </a:rPr>
              <a:t> 처음 공부를 시작할 때는 텐션 UP!되서 의지가 샘솟지만 어느 순간부터 그냥 흥얼거리는 내가 되어 있다. 오히려 집중력 떨어지고, 도파민이 더 샘솟는 숏폼을 보고 싶어졌다.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 sz="1100">
                <a:solidFill>
                  <a:srgbClr val="0284C7"/>
                </a:solidFill>
              </a:rPr>
              <a:t>나에게는 효과가 없었지만, 백색 소음을 즐기거나, 노래를 들으며 오래 공부해온 습관이 있는 사람들에게는 도움이 될 수 있다.</a:t>
            </a:r>
            <a:endParaRPr b="1" i="0" sz="11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8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4781275" y="2593625"/>
            <a:ext cx="390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4. </a:t>
            </a:r>
            <a:r>
              <a:rPr lang="ko" sz="1100"/>
              <a:t>공부 시작 패턴으로 인식할 수 있다. </a:t>
            </a:r>
            <a:r>
              <a:rPr lang="ko" sz="1100">
                <a:solidFill>
                  <a:schemeClr val="dk1"/>
                </a:solidFill>
              </a:rPr>
              <a:t>vs </a:t>
            </a:r>
            <a:r>
              <a:rPr lang="ko" sz="1100">
                <a:solidFill>
                  <a:schemeClr val="dk1"/>
                </a:solidFill>
              </a:rPr>
              <a:t>플레이리스트에 시간을 허비할 수 있다.</a:t>
            </a:r>
            <a:r>
              <a:rPr lang="ko" sz="1100">
                <a:solidFill>
                  <a:schemeClr val="dk1"/>
                </a:solidFill>
              </a:rPr>
              <a:t>                               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5.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</a:rPr>
              <a:t>암기할 때 리듬이나 노래로 연결하여 기억할 수 있다. </a:t>
            </a:r>
            <a:r>
              <a:rPr lang="ko" sz="1100">
                <a:solidFill>
                  <a:schemeClr val="dk1"/>
                </a:solidFill>
              </a:rPr>
              <a:t>vs </a:t>
            </a:r>
            <a:r>
              <a:rPr lang="ko" sz="1100">
                <a:solidFill>
                  <a:schemeClr val="dk1"/>
                </a:solidFill>
              </a:rPr>
              <a:t>시험장에서는 오히려 노래가 없어 기억이 안날 수 있다.</a:t>
            </a:r>
            <a:r>
              <a:rPr lang="ko" sz="1100">
                <a:solidFill>
                  <a:schemeClr val="dk1"/>
                </a:solidFill>
              </a:rPr>
              <a:t>                              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6. </a:t>
            </a:r>
            <a:r>
              <a:rPr lang="ko" sz="1100"/>
              <a:t>특정 장르는 릴렉스를 도와준다. 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100"/>
              <a:t>릴렉스는 되지만 공부 효율과는 무관하다.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9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이재효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9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9"/>
          <p:cNvSpPr txBox="1"/>
          <p:nvPr/>
        </p:nvSpPr>
        <p:spPr>
          <a:xfrm>
            <a:off x="304800" y="1132125"/>
            <a:ext cx="746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주제: 술과 담배는 해롭다</a:t>
            </a:r>
            <a:endParaRPr sz="1200"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200">
                <a:solidFill>
                  <a:schemeClr val="dk1"/>
                </a:solidFill>
              </a:rPr>
              <a:t>대립 가설: 술과 담배는 삶의 질과 건강을 떨어트릴 것이다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귀무 가설: 술과 담배는 삶의 질과 건강에 오히려 도움을 준다</a:t>
            </a:r>
            <a:endParaRPr sz="1200"/>
          </a:p>
        </p:txBody>
      </p:sp>
      <p:sp>
        <p:nvSpPr>
          <p:cNvPr id="143" name="Google Shape;143;p29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9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245050" y="2593625"/>
            <a:ext cx="470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신체적 질병 유발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vs </a:t>
            </a:r>
            <a:r>
              <a:rPr lang="ko" sz="1200"/>
              <a:t>정신적 스트레스 해소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중독으로 인한 의존성 발생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사회적 관계 형성의 도움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금전적 지출 발생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기호식품으로써 취미 및 즐거움 제공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9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9"/>
          <p:cNvSpPr txBox="1"/>
          <p:nvPr/>
        </p:nvSpPr>
        <p:spPr>
          <a:xfrm>
            <a:off x="789609" y="3826125"/>
            <a:ext cx="756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 sz="1200">
                <a:solidFill>
                  <a:srgbClr val="0284C7"/>
                </a:solidFill>
              </a:rPr>
              <a:t>스트레스해소와 사회적 윤활유라는 장점이 존재하지만, 질병과 중독으로 인한 생명 단축의 결과는 돌이킬 수 없음으로 악영향이 훨씬 크다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 </a:t>
            </a:r>
            <a:r>
              <a:rPr b="1" lang="ko" sz="1200">
                <a:solidFill>
                  <a:srgbClr val="0284C7"/>
                </a:solidFill>
              </a:rPr>
              <a:t>건강적 측면은 나이가 들 수 록 영향이 더 커지므로, 시간이 지날 수록 악영향이 더욱 부각된다.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 sz="1200">
                <a:solidFill>
                  <a:srgbClr val="0284C7"/>
                </a:solidFill>
              </a:rPr>
              <a:t>남녀노소 상관없이 술과 담배는 인체에 해롭다는면은 변함이 없다</a:t>
            </a:r>
            <a:endParaRPr b="1" i="0" sz="12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9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9"/>
          <p:cNvSpPr txBox="1"/>
          <p:nvPr/>
        </p:nvSpPr>
        <p:spPr>
          <a:xfrm>
            <a:off x="4330250" y="2593625"/>
            <a:ext cx="430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dk1"/>
                </a:solidFill>
              </a:rPr>
              <a:t>업무효율 저하 및 피로증가</a:t>
            </a:r>
            <a:r>
              <a:rPr lang="ko" sz="1200">
                <a:solidFill>
                  <a:schemeClr val="dk1"/>
                </a:solidFill>
              </a:rPr>
              <a:t> vs </a:t>
            </a:r>
            <a:r>
              <a:rPr lang="ko" sz="1200">
                <a:solidFill>
                  <a:schemeClr val="dk1"/>
                </a:solidFill>
              </a:rPr>
              <a:t>영감 및 아이디어 도출의 도구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 </a:t>
            </a:r>
            <a:r>
              <a:rPr lang="ko" sz="1200">
                <a:solidFill>
                  <a:schemeClr val="dk1"/>
                </a:solidFill>
              </a:rPr>
              <a:t>냄새 및 노화로 인한 매력감소</a:t>
            </a:r>
            <a:r>
              <a:rPr lang="ko" sz="1200">
                <a:solidFill>
                  <a:schemeClr val="dk1"/>
                </a:solidFill>
              </a:rPr>
              <a:t> vs </a:t>
            </a:r>
            <a:r>
              <a:rPr lang="ko" sz="1200">
                <a:solidFill>
                  <a:schemeClr val="dk1"/>
                </a:solidFill>
              </a:rPr>
              <a:t>개인의 분위기 연출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200"/>
              <a:t>음주사고 및 간접흡연 피해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경직된 사회 분위기 완화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여진주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b="1" lang="ko" sz="1200">
                <a:solidFill>
                  <a:schemeClr val="dk1"/>
                </a:solidFill>
              </a:rPr>
              <a:t>16:8 간헐적 단식은 일반 식단보다 8주 후 체지방 감소에 더 효과적이다.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b="1" lang="ko" sz="1200">
                <a:solidFill>
                  <a:schemeClr val="dk1"/>
                </a:solidFill>
              </a:rPr>
              <a:t>간헐적 단식이 평균 체지방 감소량을 더 크게 만든다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b="1" lang="ko" sz="1200">
                <a:solidFill>
                  <a:schemeClr val="dk1"/>
                </a:solidFill>
              </a:rPr>
              <a:t>간헐적 단식의 평균 체지방 감소량이 더 크지 않다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245050" y="2593625"/>
            <a:ext cx="66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ko" sz="1000">
                <a:solidFill>
                  <a:schemeClr val="dk1"/>
                </a:solidFill>
              </a:rPr>
              <a:t>간헐적 단식이 더 효과적이다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000"/>
              <a:t>VS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" sz="1000">
                <a:solidFill>
                  <a:schemeClr val="dk1"/>
                </a:solidFill>
              </a:rPr>
              <a:t>간헐적 단식은 더 효과적이지 않다.</a:t>
            </a:r>
            <a:endParaRPr sz="12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ko" sz="1000"/>
              <a:t>간헐적 단식은 체지방 감소에 효과기 있다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" sz="1000"/>
              <a:t>VS 효과가 없다.</a:t>
            </a:r>
            <a:endParaRPr sz="10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ko" sz="1000"/>
              <a:t>최소 0.5%이상 차이가 난다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vs </a:t>
            </a:r>
            <a:r>
              <a:rPr lang="ko" sz="1000">
                <a:solidFill>
                  <a:schemeClr val="dk1"/>
                </a:solidFill>
              </a:rPr>
              <a:t>임상적으로 의미 있는 차이가 아니다  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2684316" y="3826133"/>
            <a:ext cx="3775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4572000" y="2584425"/>
            <a:ext cx="437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4.</a:t>
            </a:r>
            <a:r>
              <a:rPr lang="ko" sz="1000">
                <a:solidFill>
                  <a:schemeClr val="dk1"/>
                </a:solidFill>
              </a:rPr>
              <a:t>   </a:t>
            </a:r>
            <a:r>
              <a:rPr lang="ko" sz="1000">
                <a:solidFill>
                  <a:schemeClr val="dk1"/>
                </a:solidFill>
              </a:rPr>
              <a:t>간헐적 단식 집단의 리바운드가 더 낮다</a:t>
            </a:r>
            <a:r>
              <a:rPr lang="ko" sz="1000">
                <a:solidFill>
                  <a:schemeClr val="dk1"/>
                </a:solidFill>
              </a:rPr>
              <a:t> vs  </a:t>
            </a:r>
            <a:r>
              <a:rPr lang="ko" sz="1000">
                <a:solidFill>
                  <a:schemeClr val="dk1"/>
                </a:solidFill>
              </a:rPr>
              <a:t>리바운드는 두 집단이 같다</a:t>
            </a:r>
            <a:r>
              <a:rPr lang="ko" sz="1000">
                <a:solidFill>
                  <a:schemeClr val="dk1"/>
                </a:solidFill>
              </a:rPr>
              <a:t>                              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5.</a:t>
            </a:r>
            <a:r>
              <a:rPr lang="ko" sz="1000">
                <a:solidFill>
                  <a:schemeClr val="dk1"/>
                </a:solidFill>
              </a:rPr>
              <a:t>   </a:t>
            </a:r>
            <a:r>
              <a:rPr lang="ko" sz="1000">
                <a:solidFill>
                  <a:schemeClr val="dk1"/>
                </a:solidFill>
              </a:rPr>
              <a:t>간헐적 단식 집단의 분산이 더 작다</a:t>
            </a:r>
            <a:r>
              <a:rPr lang="ko" sz="1000">
                <a:solidFill>
                  <a:schemeClr val="dk1"/>
                </a:solidFill>
              </a:rPr>
              <a:t> vs </a:t>
            </a:r>
            <a:r>
              <a:rPr lang="ko" sz="1000">
                <a:solidFill>
                  <a:schemeClr val="dk1"/>
                </a:solidFill>
              </a:rPr>
              <a:t>두 집단의 체지방 감소량 분산은 같다.</a:t>
            </a:r>
            <a:r>
              <a:rPr lang="ko" sz="1000">
                <a:solidFill>
                  <a:schemeClr val="dk1"/>
                </a:solidFill>
              </a:rPr>
              <a:t>                                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6.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ko" sz="1000"/>
              <a:t>간헐적 단식 집단의 탈락률이 더 높다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000"/>
              <a:t>두 집단의 탈락률은 같다.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1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김동준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1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/>
              <a:t>아이스 아메리카노를 점심먹고 한 잔 마시는 것은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/>
              <a:t>교육에 집중을 더 할 수 있을 것이다.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/>
              <a:t>교육에 집중하는 것과 상관이 없을 것이다.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245050" y="2593625"/>
            <a:ext cx="442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졸음이 안오는 느낌이다.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vs </a:t>
            </a:r>
            <a:r>
              <a:rPr lang="ko" sz="1200"/>
              <a:t> 커피랑 상관없이 졸리다.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집중이 잘 된다.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vs  </a:t>
            </a:r>
            <a:r>
              <a:rPr lang="ko" sz="1200"/>
              <a:t>더 배불러서 집중이 안된다.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차가운 음료가 도움이 된다.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vs   </a:t>
            </a:r>
            <a:r>
              <a:rPr lang="ko" sz="1200"/>
              <a:t>따뜻한 음료가 도움이 된다.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lang="ko" sz="1000">
                <a:solidFill>
                  <a:srgbClr val="EF8600"/>
                </a:solidFill>
              </a:rPr>
              <a:t>채택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2228799" y="3826125"/>
            <a:ext cx="4686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>
                <a:solidFill>
                  <a:srgbClr val="0284C7"/>
                </a:solidFill>
              </a:rPr>
              <a:t>아니오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 </a:t>
            </a:r>
            <a:r>
              <a:rPr b="1" lang="ko">
                <a:solidFill>
                  <a:srgbClr val="0284C7"/>
                </a:solidFill>
              </a:rPr>
              <a:t>아니오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>
                <a:solidFill>
                  <a:srgbClr val="0284C7"/>
                </a:solidFill>
              </a:rPr>
              <a:t>아니오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4683740" y="2593625"/>
            <a:ext cx="414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   </a:t>
            </a:r>
            <a:r>
              <a:rPr lang="ko" sz="1200">
                <a:solidFill>
                  <a:schemeClr val="dk1"/>
                </a:solidFill>
              </a:rPr>
              <a:t>쓴 맛이 각성효과를 준다.</a:t>
            </a:r>
            <a:r>
              <a:rPr lang="ko" sz="1200">
                <a:solidFill>
                  <a:schemeClr val="dk1"/>
                </a:solidFill>
              </a:rPr>
              <a:t>              vs  </a:t>
            </a:r>
            <a:r>
              <a:rPr lang="ko" sz="1200">
                <a:solidFill>
                  <a:schemeClr val="dk1"/>
                </a:solidFill>
              </a:rPr>
              <a:t>달달한게 더 좋다.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   </a:t>
            </a:r>
            <a:r>
              <a:rPr lang="ko" sz="1200">
                <a:solidFill>
                  <a:schemeClr val="dk1"/>
                </a:solidFill>
              </a:rPr>
              <a:t>한 잔만으로도 정신이 번쩍 든다. </a:t>
            </a:r>
            <a:r>
              <a:rPr lang="ko" sz="1200">
                <a:solidFill>
                  <a:schemeClr val="dk1"/>
                </a:solidFill>
              </a:rPr>
              <a:t>  vs  </a:t>
            </a:r>
            <a:r>
              <a:rPr lang="ko" sz="1200">
                <a:solidFill>
                  <a:schemeClr val="dk1"/>
                </a:solidFill>
              </a:rPr>
              <a:t>한 잔은 부족해.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" sz="1200"/>
              <a:t>소화되는 느낌도 든다.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vs </a:t>
            </a:r>
            <a:r>
              <a:rPr lang="ko" sz="1200"/>
              <a:t>오히려 더부룩해진다.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2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장용아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/>
              <a:t>내일의 행복을 위해 오늘의 행복을 포기해야 하는가?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</a:t>
            </a:r>
            <a:r>
              <a:rPr lang="ko" sz="1200"/>
              <a:t> </a:t>
            </a:r>
            <a:r>
              <a:rPr lang="ko" sz="1200">
                <a:solidFill>
                  <a:schemeClr val="dk1"/>
                </a:solidFill>
              </a:rPr>
              <a:t>내일이 있을지 없을지 누가 알아?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>
                <a:solidFill>
                  <a:schemeClr val="dk1"/>
                </a:solidFill>
              </a:rPr>
              <a:t>오늘을 참으면 내일이 편안하다.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245050" y="2593625"/>
            <a:ext cx="415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오늘은 곧 사라진다     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   </a:t>
            </a:r>
            <a:r>
              <a:rPr lang="ko" sz="1200"/>
              <a:t>내일은 곧 다가온다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현재가 더 중요하다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vs    </a:t>
            </a:r>
            <a:r>
              <a:rPr lang="ko" sz="1200"/>
              <a:t>미래가 더 중요하다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내일까지 살아 있을까?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 </a:t>
            </a:r>
            <a:r>
              <a:rPr lang="ko" sz="1200"/>
              <a:t>  앞으로 살 날이 더 많다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</a:t>
            </a: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2684328" y="3826125"/>
            <a:ext cx="5069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>
                <a:solidFill>
                  <a:srgbClr val="0284C7"/>
                </a:solidFill>
              </a:rPr>
              <a:t>예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  </a:t>
            </a:r>
            <a:r>
              <a:rPr b="1" lang="ko">
                <a:solidFill>
                  <a:srgbClr val="0284C7"/>
                </a:solidFill>
              </a:rPr>
              <a:t>아니요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>
                <a:solidFill>
                  <a:srgbClr val="0284C7"/>
                </a:solidFill>
              </a:rPr>
              <a:t>아니요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4330775" y="2593625"/>
            <a:ext cx="43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4.In</a:t>
            </a:r>
            <a:r>
              <a:rPr lang="ko" sz="1200"/>
              <a:t> the end it doesn’t matter</a:t>
            </a:r>
            <a:r>
              <a:rPr lang="ko" sz="1200">
                <a:solidFill>
                  <a:schemeClr val="dk1"/>
                </a:solidFill>
              </a:rPr>
              <a:t>  </a:t>
            </a:r>
            <a:r>
              <a:rPr lang="ko" sz="1200">
                <a:solidFill>
                  <a:schemeClr val="dk1"/>
                </a:solidFill>
              </a:rPr>
              <a:t>vs  Try hard !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후회는 내일 합시다.               </a:t>
            </a:r>
            <a:r>
              <a:rPr lang="ko" sz="1200">
                <a:solidFill>
                  <a:schemeClr val="dk1"/>
                </a:solidFill>
              </a:rPr>
              <a:t>vs  </a:t>
            </a:r>
            <a:r>
              <a:rPr lang="ko" sz="1200">
                <a:solidFill>
                  <a:schemeClr val="dk1"/>
                </a:solidFill>
              </a:rPr>
              <a:t>너 나중에 후회한다.</a:t>
            </a:r>
            <a:r>
              <a:rPr lang="ko" sz="1200">
                <a:solidFill>
                  <a:schemeClr val="dk1"/>
                </a:solidFill>
              </a:rPr>
              <a:t>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lang="ko" sz="1200"/>
              <a:t>안 아프고 살면 안돼?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vs  No pain , No gain     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김재형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/>
              <a:t>배부른 돼지보다 배고픈 소크라테스가 나은가?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>
                <a:solidFill>
                  <a:schemeClr val="dk1"/>
                </a:solidFill>
              </a:rPr>
              <a:t>배고픈 소크라테스의 삶의 가치가 배부른 돼지보다 더 높다.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/>
              <a:t>배부른 돼지와 배고픈 소크라테스의 삶의 가치는 질적으로 우열을 가릴 수 없다.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3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245050" y="2593625"/>
            <a:ext cx="415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충분한 배부름과 안락함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vs </a:t>
            </a:r>
            <a:r>
              <a:rPr lang="ko" sz="1100"/>
              <a:t>지식 함양과 성찰</a:t>
            </a:r>
            <a:endParaRPr sz="1100"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현재의 만족감  vs  불확실한 미래를 위한 지혜 추구</a:t>
            </a:r>
            <a:endParaRPr sz="1100"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 sz="1100"/>
              <a:t>스트레스 없는 여유와 휴식 vs 장기적 행복을 위한 도전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1755975" y="3254100"/>
            <a:ext cx="5718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EF8600"/>
                </a:solidFill>
              </a:rPr>
              <a:t>결과:  귀무가설 기각</a:t>
            </a:r>
            <a:r>
              <a:rPr i="0" lang="ko" sz="1000" u="none" cap="none" strike="noStrike">
                <a:solidFill>
                  <a:srgbClr val="EF8600"/>
                </a:solidFill>
              </a:rPr>
              <a:t> - </a:t>
            </a:r>
            <a:r>
              <a:rPr lang="ko" sz="1000">
                <a:solidFill>
                  <a:srgbClr val="EF8600"/>
                </a:solidFill>
              </a:rPr>
              <a:t>인간은 장기적인 측면에 대해 지속적으로 대비해야 한다’는 하나의 권고 방향일 뿐, 이미 Young &amp; Rich인 사람처럼 기본 조건이 충족된 경우에는 충분히 다른 선택도 합리적일 수 있다.</a:t>
            </a:r>
            <a:endParaRPr sz="1000">
              <a:solidFill>
                <a:srgbClr val="EF8600"/>
              </a:solidFill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55425" y="3752875"/>
            <a:ext cx="90363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0284C7"/>
                </a:solidFill>
              </a:rPr>
              <a:t>•    귀무가설이 정말 기각되었나? </a:t>
            </a:r>
            <a:endParaRPr i="0" sz="1300" u="none" cap="none" strike="noStrike">
              <a:solidFill>
                <a:srgbClr val="0284C7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000" u="none" cap="none" strike="noStrike">
                <a:solidFill>
                  <a:srgbClr val="0284C7"/>
                </a:solidFill>
              </a:rPr>
              <a:t>완전히 기각되었다기보다는, 지금 설정한 조건과 관점에서는 배고픈 소크라테스 쪽이 더 설득력 있는 경향을 보였다고 말할 수 있다</a:t>
            </a:r>
            <a:endParaRPr sz="10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0284C7"/>
                </a:solidFill>
              </a:rPr>
              <a:t>•    결과는 시간이 지나도 유지 될 수 있는가?</a:t>
            </a:r>
            <a:endParaRPr i="0" sz="1300" u="none" cap="none" strike="noStrike">
              <a:solidFill>
                <a:srgbClr val="0284C7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0284C7"/>
                </a:solidFill>
              </a:rPr>
              <a:t>단기적으로는 불안정하지만, 장기적 삶의 경험이 쌓일수록 더 강화될 가능성이 있다.</a:t>
            </a:r>
            <a:endParaRPr sz="1100">
              <a:solidFill>
                <a:srgbClr val="0284C7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0284C7"/>
                </a:solidFill>
              </a:rPr>
              <a:t>다만 개인의 삶의 단계(청소년기, 취업 초기, 은퇴 등)에 따라 다시 배부른 돼지 쪽으로 흔들릴 수도 있다.</a:t>
            </a:r>
            <a:endParaRPr sz="1100">
              <a:solidFill>
                <a:srgbClr val="0284C7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ko" sz="1300" u="none" cap="none" strike="noStrike">
                <a:solidFill>
                  <a:srgbClr val="0284C7"/>
                </a:solidFill>
              </a:rPr>
              <a:t>•    모든 사람에게 동일하게 적용 가능한가?</a:t>
            </a:r>
            <a:endParaRPr i="0" sz="1300" u="none" cap="none" strike="noStrike">
              <a:solidFill>
                <a:srgbClr val="0284C7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100">
                <a:solidFill>
                  <a:srgbClr val="0284C7"/>
                </a:solidFill>
              </a:rPr>
              <a:t>모든 사람에게 동일하게 적용되는 결론은 아니다. 경제적 조건, 교육 수준, 가치관, 성격(안정 선호 vs 도전 선호)에 따라 어떤 삶을 ‘더 낫다’고 느끼는지는 크게 달라질 수 있다.</a:t>
            </a:r>
            <a:endParaRPr b="1" sz="1100">
              <a:solidFill>
                <a:srgbClr val="0284C7"/>
              </a:solidFill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4231425" y="2593625"/>
            <a:ext cx="453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4.</a:t>
            </a:r>
            <a:r>
              <a:rPr lang="ko" sz="1100">
                <a:solidFill>
                  <a:schemeClr val="dk1"/>
                </a:solidFill>
              </a:rPr>
              <a:t>  </a:t>
            </a:r>
            <a:r>
              <a:rPr lang="ko" sz="1100">
                <a:solidFill>
                  <a:schemeClr val="dk1"/>
                </a:solidFill>
              </a:rPr>
              <a:t>모든 것을 수용하는 리더 vs 아닌 것은 아니다 지적하는 리더</a:t>
            </a:r>
            <a:r>
              <a:rPr lang="ko" sz="1100">
                <a:solidFill>
                  <a:schemeClr val="dk1"/>
                </a:solidFill>
              </a:rPr>
              <a:t>                    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5.</a:t>
            </a:r>
            <a:r>
              <a:rPr lang="ko" sz="1100">
                <a:solidFill>
                  <a:schemeClr val="dk1"/>
                </a:solidFill>
              </a:rPr>
              <a:t>  </a:t>
            </a:r>
            <a:r>
              <a:rPr lang="ko" sz="1100">
                <a:solidFill>
                  <a:schemeClr val="dk1"/>
                </a:solidFill>
              </a:rPr>
              <a:t>갈등 최소화</a:t>
            </a:r>
            <a:r>
              <a:rPr lang="ko" sz="1100">
                <a:solidFill>
                  <a:schemeClr val="dk1"/>
                </a:solidFill>
              </a:rPr>
              <a:t>   vs   </a:t>
            </a:r>
            <a:r>
              <a:rPr lang="ko" sz="1100">
                <a:solidFill>
                  <a:schemeClr val="dk1"/>
                </a:solidFill>
              </a:rPr>
              <a:t>실적 추구</a:t>
            </a:r>
            <a:r>
              <a:rPr lang="ko" sz="1100">
                <a:solidFill>
                  <a:schemeClr val="dk1"/>
                </a:solidFill>
              </a:rPr>
              <a:t>                            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6.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" sz="1100"/>
              <a:t>빠른 합의와 팀 만족도 우위</a:t>
            </a:r>
            <a:r>
              <a:rPr b="0" i="0" lang="ko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vs   느리지만 확실한 성장과 성과 도출 우위                     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1399300" y="2278025"/>
            <a:ext cx="115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개인적 측면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5882100" y="2278025"/>
            <a:ext cx="115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사회적</a:t>
            </a:r>
            <a:r>
              <a:rPr lang="ko" sz="1500">
                <a:solidFill>
                  <a:schemeClr val="dk2"/>
                </a:solidFill>
              </a:rPr>
              <a:t> </a:t>
            </a:r>
            <a:r>
              <a:rPr lang="ko" sz="1500">
                <a:solidFill>
                  <a:schemeClr val="dk2"/>
                </a:solidFill>
              </a:rPr>
              <a:t>측면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한혜원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304800" y="1132125"/>
            <a:ext cx="8464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u="none" cap="none" strike="noStrike">
                <a:solidFill>
                  <a:srgbClr val="000000"/>
                </a:solidFill>
              </a:rPr>
              <a:t>주제: </a:t>
            </a:r>
            <a:r>
              <a:rPr b="1" lang="ko"/>
              <a:t>블루투스 샤워기는 이과생들이 싫어하는 논리다.</a:t>
            </a:r>
            <a:endParaRPr b="1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/>
              <a:t>블루투스 샤워기는 기술적 결함과 낮은 효용성, 설계문제로 인해 기존 샤워기보다 비논리적이다.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/>
              <a:t>블루투스 샤워기는 기존 샤워기보다 훨씬 사용성이 좋고 혁신적인 제품이다.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-50" y="2132245"/>
            <a:ext cx="91440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369400" y="229114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228600" y="2723100"/>
            <a:ext cx="39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ko" sz="1000"/>
              <a:t>에너지 효율 (배터리 문제) 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000"/>
              <a:t>편의성 (물이 자동으로 나옴)</a:t>
            </a:r>
            <a:endParaRPr sz="10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ko" sz="1000"/>
              <a:t>안전성 (감전문제) 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000"/>
              <a:t>한국의 방수기술</a:t>
            </a:r>
            <a:endParaRPr sz="10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ko" sz="1000"/>
              <a:t>내구성 (습기에 취약할수도 있음) 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000"/>
              <a:t>스마트홈 (모든 가전 연결)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1267596" y="3489718"/>
            <a:ext cx="632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1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기각</a:t>
            </a:r>
            <a:r>
              <a:rPr b="1" lang="ko" sz="1100">
                <a:solidFill>
                  <a:srgbClr val="CC0000"/>
                </a:solidFill>
              </a:rPr>
              <a:t> (</a:t>
            </a:r>
            <a:r>
              <a:rPr lang="ko" sz="1100">
                <a:solidFill>
                  <a:srgbClr val="CC0000"/>
                </a:solidFill>
              </a:rPr>
              <a:t>블루투스 샤워기는 기존 샤워기보다 훨씬 사용성이 좋고 혁신적인 제품이다.)</a:t>
            </a:r>
            <a:endParaRPr b="1" i="0" sz="11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169825" y="4034450"/>
            <a:ext cx="880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 sz="1200">
                <a:solidFill>
                  <a:srgbClr val="0284C7"/>
                </a:solidFill>
              </a:rPr>
              <a:t>충전의 번거로움, 기술발전 비용, 대체재의 존재 고려할때 “혁신적이다"라는 귀무가설이 논리 앞에서 무너짐. </a:t>
            </a:r>
            <a:endParaRPr b="1" sz="1200">
              <a:solidFill>
                <a:srgbClr val="0284C7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 </a:t>
            </a:r>
            <a:r>
              <a:rPr b="1" lang="ko" sz="1200">
                <a:solidFill>
                  <a:srgbClr val="0284C7"/>
                </a:solidFill>
              </a:rPr>
              <a:t>기술 발전으로 인한 무한동력이 나오지 않는 이상, 비논리성이 변하지 않음.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 sz="1200">
                <a:solidFill>
                  <a:srgbClr val="0284C7"/>
                </a:solidFill>
              </a:rPr>
              <a:t>효율과 안전을 중시하는 “이과생” 들에게만 적용 가능함.</a:t>
            </a:r>
            <a:endParaRPr b="1" i="0" sz="12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4168700" y="2710975"/>
            <a:ext cx="447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4. 대체재 : 샤워끈이 유연한 기존 샤워기 </a:t>
            </a:r>
            <a:r>
              <a:rPr lang="ko" sz="1000">
                <a:solidFill>
                  <a:schemeClr val="dk1"/>
                </a:solidFill>
              </a:rPr>
              <a:t>vs </a:t>
            </a:r>
            <a:r>
              <a:rPr lang="ko" sz="1000">
                <a:solidFill>
                  <a:schemeClr val="dk1"/>
                </a:solidFill>
              </a:rPr>
              <a:t>효용성 : 압도적인 거리조절,무빙 </a:t>
            </a:r>
            <a:r>
              <a:rPr lang="ko" sz="1000">
                <a:solidFill>
                  <a:schemeClr val="dk1"/>
                </a:solidFill>
              </a:rPr>
              <a:t>             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5.</a:t>
            </a:r>
            <a:r>
              <a:rPr lang="ko" sz="1000">
                <a:solidFill>
                  <a:schemeClr val="dk1"/>
                </a:solidFill>
              </a:rPr>
              <a:t> 유지보수 : 배터리를 자주 갈아야함 </a:t>
            </a:r>
            <a:r>
              <a:rPr lang="ko" sz="1000">
                <a:solidFill>
                  <a:schemeClr val="dk1"/>
                </a:solidFill>
              </a:rPr>
              <a:t>vs </a:t>
            </a:r>
            <a:r>
              <a:rPr lang="ko" sz="1000">
                <a:solidFill>
                  <a:schemeClr val="dk1"/>
                </a:solidFill>
              </a:rPr>
              <a:t>라이프스타일 : 힙하고 트렌디한 욕실 완성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6.</a:t>
            </a: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000"/>
              <a:t>비용 보존 : 기존소재 유지 및 저비용 vs 비용 발생 : 기술연구 및 배터리 소모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김태형)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304800" y="1132122"/>
            <a:ext cx="591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/>
              <a:t>종합비타민이 일상적 피로도 개선에 미치는 영향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/>
              <a:t>비타민을 매일 섭취하면 피로감이 줄어들 것이다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/>
              <a:t>비타민 섭취와 피로도 개선 사이에는 아무런 상관관계가 없다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5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5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245050" y="2593625"/>
            <a:ext cx="447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아침에 가벼운 느낌임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잠을 잘 잤기 때문임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구내염 빈도가 줄어듬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채소 섭취가 늘었기 때문일 수 있음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오후에 찾아오는 무력감이 없음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플라시보 효과(심리적 위안)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1614039" y="3400275"/>
            <a:ext cx="591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(</a:t>
            </a:r>
            <a:r>
              <a:rPr b="1" lang="ko" sz="1000">
                <a:solidFill>
                  <a:srgbClr val="EF8600"/>
                </a:solidFill>
              </a:rPr>
              <a:t>피로도 개선이 비타민의 효과라는 주장을 입증할 데이터가 부족함)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124849" y="3826125"/>
            <a:ext cx="8894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기각되었나?: </a:t>
            </a:r>
            <a:r>
              <a:rPr b="1" lang="ko">
                <a:solidFill>
                  <a:srgbClr val="0284C7"/>
                </a:solidFill>
              </a:rPr>
              <a:t>동일한 외부환경에서 비타민을 먹지 않은 날과 비교하여 객관적 차이 측정 필요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있는가?: </a:t>
            </a:r>
            <a:r>
              <a:rPr b="1" lang="ko">
                <a:solidFill>
                  <a:srgbClr val="0284C7"/>
                </a:solidFill>
              </a:rPr>
              <a:t>일정기간 같은 결과가 나오는지 체크가 필요함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</a:t>
            </a:r>
            <a:r>
              <a:rPr b="1" lang="ko">
                <a:solidFill>
                  <a:srgbClr val="0284C7"/>
                </a:solidFill>
              </a:rPr>
              <a:t>: 사람마다 다르게 나타날 수 있음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5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4624550" y="2593625"/>
            <a:ext cx="4394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   </a:t>
            </a:r>
            <a:r>
              <a:rPr lang="ko" sz="1200">
                <a:solidFill>
                  <a:schemeClr val="dk1"/>
                </a:solidFill>
              </a:rPr>
              <a:t>운동 후 근육통 회복이 빠름</a:t>
            </a:r>
            <a:r>
              <a:rPr lang="ko" sz="1200">
                <a:solidFill>
                  <a:schemeClr val="dk1"/>
                </a:solidFill>
              </a:rPr>
              <a:t> vs </a:t>
            </a:r>
            <a:r>
              <a:rPr lang="ko" sz="1200">
                <a:solidFill>
                  <a:schemeClr val="dk1"/>
                </a:solidFill>
              </a:rPr>
              <a:t>근육이 적응한 결과임</a:t>
            </a:r>
            <a:r>
              <a:rPr lang="ko" sz="1200">
                <a:solidFill>
                  <a:schemeClr val="dk1"/>
                </a:solidFill>
              </a:rPr>
              <a:t>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   </a:t>
            </a:r>
            <a:r>
              <a:rPr lang="ko" sz="1200">
                <a:solidFill>
                  <a:schemeClr val="dk1"/>
                </a:solidFill>
              </a:rPr>
              <a:t>챙겨먹는 행위 자체가 활력을 줌</a:t>
            </a:r>
            <a:r>
              <a:rPr lang="ko" sz="1200">
                <a:solidFill>
                  <a:schemeClr val="dk1"/>
                </a:solidFill>
              </a:rPr>
              <a:t> vs </a:t>
            </a:r>
            <a:r>
              <a:rPr lang="ko" sz="1200">
                <a:solidFill>
                  <a:schemeClr val="dk1"/>
                </a:solidFill>
              </a:rPr>
              <a:t>비타민의 성분과 관계없음</a:t>
            </a:r>
            <a:r>
              <a:rPr lang="ko" sz="1200">
                <a:solidFill>
                  <a:schemeClr val="dk1"/>
                </a:solidFill>
              </a:rPr>
              <a:t>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" sz="1200"/>
              <a:t>이전과 비교하여 활동량이 증가함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vs  </a:t>
            </a:r>
            <a:r>
              <a:rPr lang="ko" sz="1200"/>
              <a:t>프로젝트 등 외부 요인 때문에 억지로 움직인 것임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김득남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304800" y="1132125"/>
            <a:ext cx="716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/>
              <a:t>규칙적인 식사는 체중감량에 유의미한 영향을 미치는가?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/>
              <a:t>규칙적인 식사를 하는 집단은 불규칙한 식사를 하는 집단보다 평균 체중 감소량이 유의미하게 크다. 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</a:t>
            </a:r>
            <a:r>
              <a:rPr lang="ko" sz="1200"/>
              <a:t>규칙적인 식사 여부는 체중 감소에 영향을 미치지 않는다.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369400" y="2575325"/>
            <a:ext cx="425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1.규칙적 식사 집단 평균 감량 3kg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 </a:t>
            </a:r>
            <a:r>
              <a:rPr lang="ko" sz="1200"/>
              <a:t>불규칙한 집단 2.8kg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2.규칙적 집단 표본 15명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200"/>
              <a:t>불규칙 집단 15명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ko" sz="1200"/>
              <a:t>주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200"/>
              <a:t>실험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200"/>
              <a:t>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200"/>
              <a:t>장기 유지 여부 불확실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1630825" y="3400275"/>
            <a:ext cx="591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</a:t>
            </a:r>
            <a:r>
              <a:rPr lang="ko" sz="1000">
                <a:solidFill>
                  <a:srgbClr val="EF8600"/>
                </a:solidFill>
              </a:rPr>
              <a:t>규칙적인 식사가 체중 감소에 도음이 될 가능성은 있으나, 본 연구에서는 통계적으로 이를 입증하지 못했다.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159425" y="3732025"/>
            <a:ext cx="8748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>
                <a:solidFill>
                  <a:srgbClr val="0284C7"/>
                </a:solidFill>
              </a:rPr>
              <a:t>단기 실험의 한계와 개인차로 인해 결과의 일반화에는 주의가 필요하다. 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 </a:t>
            </a:r>
            <a:r>
              <a:rPr b="1" lang="ko">
                <a:solidFill>
                  <a:srgbClr val="0284C7"/>
                </a:solidFill>
              </a:rPr>
              <a:t>단기체중 감소와 장기 체중유지 효과는 다를 수 있다.</a:t>
            </a:r>
            <a:endParaRPr b="1">
              <a:solidFill>
                <a:srgbClr val="0284C7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284C7"/>
                </a:solidFill>
              </a:rPr>
              <a:t>                                                                (장기 추적 연구가 필요하다)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>
                <a:solidFill>
                  <a:srgbClr val="0284C7"/>
                </a:solidFill>
              </a:rPr>
              <a:t>개인의 기초대사량, 운동 습관, 식습관 차이에 따라 규칙적인 식사의 효과가        </a:t>
            </a:r>
            <a:endParaRPr b="1">
              <a:solidFill>
                <a:srgbClr val="0284C7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284C7"/>
                </a:solidFill>
              </a:rPr>
              <a:t>                                                               다르게 나타날 수 있다 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6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6"/>
          <p:cNvSpPr txBox="1"/>
          <p:nvPr/>
        </p:nvSpPr>
        <p:spPr>
          <a:xfrm>
            <a:off x="5065025" y="2593625"/>
            <a:ext cx="377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칼로리 완전 통제 어려움 </a:t>
            </a:r>
            <a:r>
              <a:rPr lang="ko" sz="1200">
                <a:solidFill>
                  <a:schemeClr val="dk1"/>
                </a:solidFill>
              </a:rPr>
              <a:t>vs </a:t>
            </a:r>
            <a:r>
              <a:rPr lang="ko" sz="1200">
                <a:solidFill>
                  <a:schemeClr val="dk1"/>
                </a:solidFill>
              </a:rPr>
              <a:t>식사 시간만 비교</a:t>
            </a:r>
            <a:r>
              <a:rPr lang="ko" sz="1200">
                <a:solidFill>
                  <a:schemeClr val="dk1"/>
                </a:solidFill>
              </a:rPr>
              <a:t>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운동량 개인차 존재 </a:t>
            </a:r>
            <a:r>
              <a:rPr lang="ko" sz="1200">
                <a:solidFill>
                  <a:schemeClr val="dk1"/>
                </a:solidFill>
              </a:rPr>
              <a:t>vs </a:t>
            </a:r>
            <a:r>
              <a:rPr lang="ko" sz="1200">
                <a:solidFill>
                  <a:schemeClr val="dk1"/>
                </a:solidFill>
              </a:rPr>
              <a:t>무작위 배정 시도</a:t>
            </a:r>
            <a:r>
              <a:rPr lang="ko" sz="1200">
                <a:solidFill>
                  <a:schemeClr val="dk1"/>
                </a:solidFill>
              </a:rPr>
              <a:t>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lang="ko" sz="1200"/>
              <a:t>식사 시간 규칙적 유지율 80%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200"/>
              <a:t>실제 완전 통제 불가능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7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(이</a:t>
            </a:r>
            <a:r>
              <a:rPr b="1" lang="ko" sz="2160">
                <a:solidFill>
                  <a:srgbClr val="FFFFFF"/>
                </a:solidFill>
              </a:rPr>
              <a:t>지수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커피(카페인) 섭취 중단이 두통 빈도 감소와 관련이 있는가?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커피를 끊은 사람의 두통 발생 빈도가 더 낮다.​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커피를 끊은 사람과 계속 마신 사람의 두통 발생 빈도는 차이가 없다.​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7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7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245050" y="2593625"/>
            <a:ext cx="854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어느정도의 카페인은 몸에 좋다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200"/>
              <a:t>카페인은 무조건 몸에 좋지 않다.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나는 카페인을 끊으니 두통이 사라졌으니 다른 사람들도 그럴 것이다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개인적인 경험일 수 있고, 모든 사람에게 적용할 수 없다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카페인을 끊었다가 다시 섭취하니 두통이 시작되었다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카페인을 다시 섭취하는것과 두통의 관계는 없다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채택</a:t>
            </a: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2684316" y="3826133"/>
            <a:ext cx="3775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8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(이현진)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커피를 마시면 업무 집중력이 향상된다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15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커피를 마신 그룹의 평균 집중력 점수가 커피를 마시지 않은 그룹보다 높다</a:t>
            </a:r>
            <a:endParaRPr sz="115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커피를 마신 그룹과 마시지 않은 그룹의 평균 집중력 점수에 차이가 없다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8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245050" y="2593625"/>
            <a:ext cx="439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커피를 마시면 집중력이 향상된다</a:t>
            </a: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커피는 집중력에 영향을 주지 않는다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카페인이 뇌 활성화를 돕는다</a:t>
            </a:r>
            <a:r>
              <a:rPr b="1"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카페인은 집중력과 무관하다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 섭취 후 테스트 점수가 높게 나온다</a:t>
            </a:r>
            <a:r>
              <a:rPr lang="ko" sz="1200"/>
              <a:t>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 섭취 여부와 점수는 무관하다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1765825" y="3865525"/>
            <a:ext cx="5783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endParaRPr sz="10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 </a:t>
            </a:r>
            <a:endParaRPr sz="10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endParaRPr i="0" sz="1000" u="none" cap="none" strike="noStrike">
              <a:solidFill>
                <a:srgbClr val="0284C7"/>
              </a:solidFill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4572000" y="2593625"/>
            <a:ext cx="409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오전 업무 효율이 커피로 증가한다</a:t>
            </a:r>
            <a:r>
              <a:rPr lang="ko" sz="1200"/>
              <a:t> </a:t>
            </a:r>
            <a:r>
              <a:rPr lang="ko" sz="1200">
                <a:solidFill>
                  <a:srgbClr val="000000"/>
                </a:solidFill>
              </a:rPr>
              <a:t>vs</a:t>
            </a:r>
            <a:r>
              <a:rPr lang="ko" sz="1200"/>
              <a:t> 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오전 업무 효율은 커피와 상관없다</a:t>
            </a:r>
            <a:r>
              <a:rPr lang="ko" sz="1200">
                <a:solidFill>
                  <a:srgbClr val="000000"/>
                </a:solidFill>
              </a:rPr>
              <a:t>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900">
                <a:solidFill>
                  <a:srgbClr val="000000"/>
                </a:solidFill>
              </a:rPr>
              <a:t>커피가 피로를 줄여준다</a:t>
            </a:r>
            <a:r>
              <a:rPr lang="ko" sz="1200"/>
              <a:t> </a:t>
            </a:r>
            <a:r>
              <a:rPr lang="ko" sz="1200">
                <a:solidFill>
                  <a:srgbClr val="000000"/>
                </a:solidFill>
              </a:rPr>
              <a:t>vs</a:t>
            </a:r>
            <a:r>
              <a:rPr lang="ko" sz="1200"/>
              <a:t> </a:t>
            </a:r>
            <a:r>
              <a:rPr b="1"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커피는 피로 완화에 영향을 주지 않는다</a:t>
            </a:r>
            <a:r>
              <a:rPr b="1" lang="ko" sz="900">
                <a:solidFill>
                  <a:srgbClr val="000000"/>
                </a:solidFill>
              </a:rPr>
              <a:t>  </a:t>
            </a:r>
            <a:r>
              <a:rPr lang="ko" sz="1200">
                <a:solidFill>
                  <a:srgbClr val="000000"/>
                </a:solidFill>
              </a:rPr>
              <a:t>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커피를 마신 사람은 회의 집중도가 높다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9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커피 섭취와 회의 집중도는 관계없다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9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김영욱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r>
              <a:rPr lang="ko" sz="1200"/>
              <a:t>건강과 운동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r>
              <a:rPr lang="ko" sz="1200">
                <a:solidFill>
                  <a:srgbClr val="222222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몸 건강이 좋지 않을 때 운동은 </a:t>
            </a:r>
            <a:r>
              <a:rPr b="1" lang="ko" sz="1200">
                <a:solidFill>
                  <a:srgbClr val="222222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긍정적 효과가 있다</a:t>
            </a:r>
            <a:r>
              <a:rPr lang="ko" sz="1200">
                <a:solidFill>
                  <a:srgbClr val="222222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(몸이 먼저 움직여야 한다)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몸 건강이 좋지 않을 때 운동은 </a:t>
            </a:r>
            <a:r>
              <a:rPr b="1" lang="ko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효과가 없거나 해롭다</a:t>
            </a: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(쉬는 것이 낫다)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9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245050" y="2593625"/>
            <a:ext cx="744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가벼운 감기에는 가벼운 운동이 증상완화에 도움 됨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ko" sz="1200"/>
              <a:t>체온이 올라가면 증상악화 됨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ko" sz="1200"/>
              <a:t>운동은 특정 항체 수치를 높여 감염과 싸우는데 효과적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ko" sz="1200"/>
              <a:t>탈수 증상으로 악화 가능성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채택</a:t>
            </a: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9"/>
          <p:cNvSpPr txBox="1"/>
          <p:nvPr/>
        </p:nvSpPr>
        <p:spPr>
          <a:xfrm>
            <a:off x="1285650" y="3826125"/>
            <a:ext cx="6992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 </a:t>
            </a:r>
            <a:r>
              <a:rPr b="1" lang="ko">
                <a:solidFill>
                  <a:srgbClr val="0284C7"/>
                </a:solidFill>
              </a:rPr>
              <a:t>증상에 따라 다름, 운동 강도에 따라 다름, 시기에 따라 다름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 </a:t>
            </a:r>
            <a:r>
              <a:rPr b="1" lang="ko">
                <a:solidFill>
                  <a:srgbClr val="0284C7"/>
                </a:solidFill>
              </a:rPr>
              <a:t>질병이나 환경에 따라 동일하지 않을 수 있다.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5479725" y="4497000"/>
            <a:ext cx="342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                                   vs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                                   vs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vs     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귀무가설 기각 연습 해보기_</a:t>
            </a:r>
            <a:r>
              <a:rPr b="1" lang="ko" sz="2160">
                <a:solidFill>
                  <a:srgbClr val="FFFFFF"/>
                </a:solidFill>
              </a:rPr>
              <a:t>(</a:t>
            </a:r>
            <a:r>
              <a:rPr b="1" lang="ko" sz="2160">
                <a:solidFill>
                  <a:srgbClr val="FFFFFF"/>
                </a:solidFill>
              </a:rPr>
              <a:t>강범준</a:t>
            </a:r>
            <a:r>
              <a:rPr b="1" lang="ko" sz="2160">
                <a:solidFill>
                  <a:srgbClr val="FFFFFF"/>
                </a:solidFill>
              </a:rPr>
              <a:t>)</a:t>
            </a:r>
            <a:r>
              <a:rPr b="1" i="0" lang="ko" sz="21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TIL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0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나의 주장이 틀렸다는 것을 증명하는 것에 실패 해보자</a:t>
            </a:r>
            <a:endParaRPr b="1" i="0" sz="18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304800" y="1132122"/>
            <a:ext cx="591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주제: 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대립 가설: 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귀무 가설: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245050" y="2002776"/>
            <a:ext cx="8524200" cy="1731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369400" y="2161672"/>
            <a:ext cx="812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7A2B8"/>
              </a:buClr>
              <a:buSzPts val="1275"/>
              <a:buFont typeface="Arial"/>
              <a:buNone/>
            </a:pPr>
            <a:r>
              <a:rPr b="1" i="0" lang="ko" sz="1200" u="none" cap="none" strike="noStrike">
                <a:solidFill>
                  <a:srgbClr val="17A2B8"/>
                </a:solidFill>
                <a:latin typeface="Arial"/>
                <a:ea typeface="Arial"/>
                <a:cs typeface="Arial"/>
                <a:sym typeface="Arial"/>
              </a:rPr>
              <a:t>대립 가설 VS 귀무 가설 밸런스 게임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245050" y="2593625"/>
            <a:ext cx="342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vs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2335684" y="3400286"/>
            <a:ext cx="4472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결과:  귀무가설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채택</a:t>
            </a:r>
            <a:r>
              <a:rPr b="0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ko" sz="1000" u="none" cap="none" strike="noStrike">
                <a:solidFill>
                  <a:srgbClr val="EF8600"/>
                </a:solidFill>
                <a:latin typeface="Arial"/>
                <a:ea typeface="Arial"/>
                <a:cs typeface="Arial"/>
                <a:sym typeface="Arial"/>
              </a:rPr>
              <a:t>기각 </a:t>
            </a:r>
            <a:endParaRPr b="1" i="0" sz="1000" u="none" cap="none" strike="noStrike">
              <a:solidFill>
                <a:srgbClr val="EF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2684316" y="3826133"/>
            <a:ext cx="3775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귀무가설이 정말 기각되었나?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결과는 시간이 지나도 유지 될 수 있는가?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•    모든 사람에게 동일하게 적용 가능한가?</a:t>
            </a:r>
            <a:endParaRPr b="1" i="0" sz="1400" u="none" cap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55417" y="256000"/>
            <a:ext cx="665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b="0" i="0" lang="ko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Part 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5065025" y="2593625"/>
            <a:ext cx="342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4.</a:t>
            </a:r>
            <a:r>
              <a:rPr lang="ko" sz="1200">
                <a:solidFill>
                  <a:schemeClr val="dk1"/>
                </a:solidFill>
              </a:rPr>
              <a:t>                                   vs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5.</a:t>
            </a:r>
            <a:r>
              <a:rPr lang="ko" sz="1200">
                <a:solidFill>
                  <a:schemeClr val="dk1"/>
                </a:solidFill>
              </a:rPr>
              <a:t>                                   vs                               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6.</a:t>
            </a: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vs                               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